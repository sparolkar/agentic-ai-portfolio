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809DFE-DF38-4B81-B5BB-FEEB20287166}" v="6" dt="2026-07-22T00:02:50.4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lendra Parolkar" userId="38f63e7a8738013d" providerId="LiveId" clId="{F5C3FA55-1290-4FCB-A10C-728B9AA18B44}"/>
    <pc:docChg chg="custSel modSld">
      <pc:chgData name="Shailendra Parolkar" userId="38f63e7a8738013d" providerId="LiveId" clId="{F5C3FA55-1290-4FCB-A10C-728B9AA18B44}" dt="2026-07-22T00:02:50.402" v="8"/>
      <pc:docMkLst>
        <pc:docMk/>
      </pc:docMkLst>
      <pc:sldChg chg="modSp">
        <pc:chgData name="Shailendra Parolkar" userId="38f63e7a8738013d" providerId="LiveId" clId="{F5C3FA55-1290-4FCB-A10C-728B9AA18B44}" dt="2026-07-22T00:02:50.402" v="8"/>
        <pc:sldMkLst>
          <pc:docMk/>
          <pc:sldMk cId="0" sldId="260"/>
        </pc:sldMkLst>
        <pc:spChg chg="mod">
          <ac:chgData name="Shailendra Parolkar" userId="38f63e7a8738013d" providerId="LiveId" clId="{F5C3FA55-1290-4FCB-A10C-728B9AA18B44}" dt="2026-07-22T00:02:32.294" v="5"/>
          <ac:spMkLst>
            <pc:docMk/>
            <pc:sldMk cId="0" sldId="260"/>
            <ac:spMk id="10" creationId="{00000000-0000-0000-0000-000000000000}"/>
          </ac:spMkLst>
        </pc:spChg>
        <pc:spChg chg="mod">
          <ac:chgData name="Shailendra Parolkar" userId="38f63e7a8738013d" providerId="LiveId" clId="{F5C3FA55-1290-4FCB-A10C-728B9AA18B44}" dt="2026-07-22T00:02:39.578" v="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Shailendra Parolkar" userId="38f63e7a8738013d" providerId="LiveId" clId="{F5C3FA55-1290-4FCB-A10C-728B9AA18B44}" dt="2026-07-22T00:02:45.492" v="7"/>
          <ac:spMkLst>
            <pc:docMk/>
            <pc:sldMk cId="0" sldId="260"/>
            <ac:spMk id="14" creationId="{00000000-0000-0000-0000-000000000000}"/>
          </ac:spMkLst>
        </pc:spChg>
        <pc:spChg chg="mod">
          <ac:chgData name="Shailendra Parolkar" userId="38f63e7a8738013d" providerId="LiveId" clId="{F5C3FA55-1290-4FCB-A10C-728B9AA18B44}" dt="2026-07-22T00:02:50.402" v="8"/>
          <ac:spMkLst>
            <pc:docMk/>
            <pc:sldMk cId="0" sldId="260"/>
            <ac:spMk id="16" creationId="{00000000-0000-0000-0000-000000000000}"/>
          </ac:spMkLst>
        </pc:spChg>
      </pc:sldChg>
      <pc:sldChg chg="delSp modSp mod">
        <pc:chgData name="Shailendra Parolkar" userId="38f63e7a8738013d" providerId="LiveId" clId="{F5C3FA55-1290-4FCB-A10C-728B9AA18B44}" dt="2026-07-22T00:00:03.114" v="4" actId="1076"/>
        <pc:sldMkLst>
          <pc:docMk/>
          <pc:sldMk cId="0" sldId="262"/>
        </pc:sldMkLst>
        <pc:spChg chg="del">
          <ac:chgData name="Shailendra Parolkar" userId="38f63e7a8738013d" providerId="LiveId" clId="{F5C3FA55-1290-4FCB-A10C-728B9AA18B44}" dt="2026-07-21T23:59:41.203" v="1" actId="478"/>
          <ac:spMkLst>
            <pc:docMk/>
            <pc:sldMk cId="0" sldId="262"/>
            <ac:spMk id="7" creationId="{00000000-0000-0000-0000-000000000000}"/>
          </ac:spMkLst>
        </pc:spChg>
        <pc:spChg chg="mod">
          <ac:chgData name="Shailendra Parolkar" userId="38f63e7a8738013d" providerId="LiveId" clId="{F5C3FA55-1290-4FCB-A10C-728B9AA18B44}" dt="2026-07-22T00:00:03.114" v="4" actId="1076"/>
          <ac:spMkLst>
            <pc:docMk/>
            <pc:sldMk cId="0" sldId="262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5621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PRD Genie converts meeting transcripts, briefs and stakeholder notes into a structured PRD, epics and user stories, plus clarification questions. Built in n8n Cloud, four agents, traced in Langfuse.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Half the graded test cases check whether the system correctly refuses. Groundedness is the design, not a feature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Sequential pipeline because every input is the same kind of object and the stages are strictly data-dependent. A router would classify a route already known at design time. The Gap Analyzer branches off extraction, not the PRD, which is why a halted run still returns useful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 rules alone lose to a template demanding ten sections. These three sit outside the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Output tokens on gpt-4o are 72% of run cost. Replace estimates with measured token counts from traces if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evidence point: held-out edge cases, full-dataset regression, and completeness reported alongside hallucination.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&lt;your-username&gt; with your GitHub handle once pushed. The repo is push-ready in prd-genie-github-repo.zip; PUSH-TO-GITHUB.md has the three commands. Verify it is public before submitting the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parolkar/Agentic-AI-Portfolio/tree/main/PRD-Genie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PRD Genie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transcripts to grounded PRDs — and the questions the meeting left open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Shailendra Parolkar   ·   Applied Agentic AI for PMs/TPMs   ·   NeuronForge Technologies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06984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NeuronForge product management, today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9000" cy="1828800"/>
          </a:xfrm>
          <a:prstGeom prst="roundRect">
            <a:avLst>
              <a:gd name="adj" fmla="val 4500"/>
            </a:avLst>
          </a:prstGeom>
          <a:solidFill>
            <a:srgbClr val="F4F7F9"/>
          </a:solidFill>
          <a:ln/>
          <a:effectLst>
            <a:outerShdw blurRad="114300" dist="25400" dir="5400000" algn="bl" rotWithShape="0">
              <a:srgbClr val="9FB3C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6112" y="201168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60–90 min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896112" y="26974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convert one meeting into a PRD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1783080"/>
            <a:ext cx="3429000" cy="1828800"/>
          </a:xfrm>
          <a:prstGeom prst="roundRect">
            <a:avLst>
              <a:gd name="adj" fmla="val 4500"/>
            </a:avLst>
          </a:prstGeom>
          <a:solidFill>
            <a:srgbClr val="F4F7F9"/>
          </a:solidFill>
          <a:ln/>
          <a:effectLst>
            <a:outerShdw blurRad="114300" dist="25400" dir="5400000" algn="bl" rotWithShape="0">
              <a:srgbClr val="9FB3C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99432" y="201168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PM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4599432" y="26974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different PRD format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1783080"/>
            <a:ext cx="3429000" cy="1828800"/>
          </a:xfrm>
          <a:prstGeom prst="roundRect">
            <a:avLst>
              <a:gd name="adj" fmla="val 4500"/>
            </a:avLst>
          </a:prstGeom>
          <a:solidFill>
            <a:srgbClr val="F4F7F9"/>
          </a:solidFill>
          <a:ln/>
          <a:effectLst>
            <a:outerShdw blurRad="114300" dist="25400" dir="5400000" algn="bl" rotWithShape="0">
              <a:srgbClr val="9FB3C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302752" y="201168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Mid-sprint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8302752" y="26974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missing requirements surface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10881360" cy="1600200"/>
          </a:xfrm>
          <a:prstGeom prst="roundRect">
            <a:avLst>
              <a:gd name="adj" fmla="val 5143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4206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that shaped every decision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459028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PRD containing a requirement nobody stated is worse than no PRD — engineering builds to it before anyone notices.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06984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pipeline · four agents · two structural guardrails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065A82"/>
          </a:solidFill>
          <a:ln/>
          <a:effectLst>
            <a:outerShdw blurRad="88900" dist="25400" dir="5400000" algn="bl" rotWithShape="0">
              <a:srgbClr val="9FB3C4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8096" y="2075688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input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8096" y="242316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/ notes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926080" y="196596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/>
          <a:effectLst>
            <a:outerShdw blurRad="88900" dist="25400" dir="5400000" algn="bl" rotWithShape="0">
              <a:srgbClr val="9FB3C4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054096" y="2075688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Extractor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54096" y="242316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212080" y="196596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/>
          <a:effectLst>
            <a:outerShdw blurRad="88900" dist="25400" dir="5400000" algn="bl" rotWithShape="0">
              <a:srgbClr val="9FB3C4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40096" y="2075688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PRD Generator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40096" y="242316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498080" y="196596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/>
          <a:effectLst>
            <a:outerShdw blurRad="88900" dist="25400" dir="5400000" algn="bl" rotWithShape="0">
              <a:srgbClr val="9FB3C4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626096" y="2075688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Story Breakdown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26096" y="242316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784080" y="196596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065A82"/>
          </a:solidFill>
          <a:ln/>
          <a:effectLst>
            <a:outerShdw blurRad="88900" dist="25400" dir="5400000" algn="bl" rotWithShape="0">
              <a:srgbClr val="9FB3C4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12096" y="2075688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response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912096" y="242316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· Stories · Questions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606040" y="2313432"/>
            <a:ext cx="274320" cy="182880"/>
          </a:xfrm>
          <a:prstGeom prst="rightArrow">
            <a:avLst/>
          </a:prstGeom>
          <a:solidFill>
            <a:srgbClr val="B9C9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92040" y="2313432"/>
            <a:ext cx="274320" cy="182880"/>
          </a:xfrm>
          <a:prstGeom prst="rightArrow">
            <a:avLst/>
          </a:prstGeom>
          <a:solidFill>
            <a:srgbClr val="B9C9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178040" y="2313432"/>
            <a:ext cx="274320" cy="182880"/>
          </a:xfrm>
          <a:prstGeom prst="rightArrow">
            <a:avLst/>
          </a:prstGeom>
          <a:solidFill>
            <a:srgbClr val="B9C9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464040" y="2313432"/>
            <a:ext cx="274320" cy="182880"/>
          </a:xfrm>
          <a:prstGeom prst="rightArrow">
            <a:avLst/>
          </a:prstGeom>
          <a:solidFill>
            <a:srgbClr val="B9C9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749040" y="2926080"/>
            <a:ext cx="182880" cy="256032"/>
          </a:xfrm>
          <a:prstGeom prst="downArrow">
            <a:avLst/>
          </a:prstGeom>
          <a:solidFill>
            <a:srgbClr val="B9C9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926080" y="324612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21295C"/>
          </a:solidFill>
          <a:ln/>
          <a:effectLst>
            <a:outerShdw blurRad="88900" dist="25400" dir="5400000" algn="bl" rotWithShape="0">
              <a:srgbClr val="9FB3C4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054096" y="3355848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Gap Analyzer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054096" y="370332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branch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0080" y="4434840"/>
            <a:ext cx="5486400" cy="1508760"/>
          </a:xfrm>
          <a:prstGeom prst="roundRect">
            <a:avLst>
              <a:gd name="adj" fmla="val 5455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96112" y="4645152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96112" y="471830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463040" y="462686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Quote-or-drop  ·  between 1 and 2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463040" y="5010912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without a verbatim quote are deleted in code before the generator sees them.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309360" y="4434840"/>
            <a:ext cx="5394960" cy="1508760"/>
          </a:xfrm>
          <a:prstGeom prst="roundRect">
            <a:avLst>
              <a:gd name="adj" fmla="val 5455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565392" y="4645152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565392" y="471830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132320" y="462686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Sufficiency gate  ·  before 2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132320" y="5010912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stated requirements halts the pipeline — agents 2 and 3 are never invoked.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40080" y="6080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traces every run, with named spans for both guardrails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does not hallucinate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06984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not instructions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9FB3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193852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6112" y="203911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572768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Quote-or-drop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26974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extracted requirement must carry a verbatim quote from the input. A code node deletes the ones that don't — before they reach the generator.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96112" y="40690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guardrail the model cannot talk its way past.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691640"/>
            <a:ext cx="342900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9FB3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99432" y="193852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99432" y="203911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276088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Sufficiency gate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99432" y="26974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zero requirements are extracted, the pipeline halts and returns questions instead.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99432" y="40690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T9 passes by construction: the generator is never invoked.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46720" y="1691640"/>
            <a:ext cx="342900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9FB3C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302752" y="193852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02752" y="203911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979408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02752" y="26974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PRD Generator receives the extraction JSON only — never the raw transcript.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302752" y="40690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raw material to infer from.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512064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60120" y="53492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PRD template's Source column carries a requirement ID for every row — so fabrication is inspectable, not a matter of judgment.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06984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baseline inputs · Langfuse traces · metrics that resist gaming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2286000"/>
          </a:xfrm>
          <a:prstGeom prst="roundRect">
            <a:avLst>
              <a:gd name="adj" fmla="val 3600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9019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the test set grades refusal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vague · T3 contradictory · T5 incomplete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 multi-stakeholder · T9 empty · T10 unknown ETA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confident answer to a vague input is a failure — even when it reads well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691640"/>
            <a:ext cx="5212080" cy="2286000"/>
          </a:xfrm>
          <a:prstGeom prst="roundRect">
            <a:avLst>
              <a:gd name="adj" fmla="val 3600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0" y="19019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 reported in pairs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237744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completeness — % of stated requirements captured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rate — % of items not traceable to source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reported alone: suppressing output is the cheapest fake improvement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43434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$0.006226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40080" y="5029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completed run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01568" y="43434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$0.747167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401568" y="5029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PM per month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63056" y="43434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163056" y="5029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by mixed models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24544" y="43434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10×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8924544" y="5029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when halted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6235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sufficiency gate declines to spend gpt-4o tokens on inputs that cannot support a PRD — a guardrail that improves correctness and unit economics at once.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4572000" cy="45720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241280" y="-1097280"/>
            <a:ext cx="3291840" cy="32918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taught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220370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231136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214884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 belong in structure, not prose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17320" y="2551176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Withholding the transcript beat every instruction to be careful.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343814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3465576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17320" y="338328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Refusal is a feature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417320" y="3785616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empty section that reads "Not discussed in this meeting." is a correct section.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467258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4700016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461772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fix is only as good as its evidence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417320" y="5020056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Re-running the test a guardrail was written against proves almost nothing.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4937760" cy="4937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424160" y="457200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41248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below lives in one public repo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10515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C133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23160" y="25374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https://github.com/sparolkar/Agentic-AI-Portfolio/tree/main/PRD-Genie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365760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workflow (importable JSON)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agent prompts + guardrails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test results, T1–T12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trace export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309360" y="365760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Q1–Q4 assignment answers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writeup + diagram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slide deck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with setup + run steps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6868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E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 · no keys committed · MIT-clean history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786</Words>
  <Application>Microsoft Office PowerPoint</Application>
  <PresentationFormat>Widescreen</PresentationFormat>
  <Paragraphs>104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Shailendra Parolkar</cp:lastModifiedBy>
  <cp:revision>1</cp:revision>
  <dcterms:created xsi:type="dcterms:W3CDTF">2026-07-21T23:58:29Z</dcterms:created>
  <dcterms:modified xsi:type="dcterms:W3CDTF">2026-07-22T00:03:01Z</dcterms:modified>
</cp:coreProperties>
</file>